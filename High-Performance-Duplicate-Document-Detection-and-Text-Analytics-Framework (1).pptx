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lexandria"/>
      <p:regular r:id="rId201314"/>
    </p:embeddedFont>
    <p:embeddedFont>
      <p:font typeface="Alexandria Bold"/>
      <p:regular r:id="rId201315"/>
    </p:embeddedFont>
    <p:embeddedFont>
      <p:font typeface="Nobile"/>
      <p:regular r:id="rId201316"/>
    </p:embeddedFont>
    <p:embeddedFont>
      <p:font typeface="Nobi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74331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TextHack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233360" y="1868340"/>
            <a:ext cx="6296860" cy="3005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High-Performance Duplicate Document Detection &amp; Text Analytics Framework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5233360" y="5086747"/>
            <a:ext cx="6296860" cy="71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Pavan</a:t>
            </a:r>
            <a:pPr algn="l" indent="0" marL="0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| B.Tech Computer Science (AI &amp; DS) | KL University, Hyderabad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Guide: Faculty, Department of CSE (AI &amp; DS) | Academic Year 2024–25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76362"/>
            <a:ext cx="1422860" cy="242292"/>
          </a:xfrm>
          <a:prstGeom prst="roundRect">
            <a:avLst>
              <a:gd name="adj" fmla="val 22117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5329005" y="624185"/>
            <a:ext cx="1841156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890705"/>
            <a:ext cx="629686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Document Explosion Problem</a:t>
            </a:r>
            <a:endParaRPr lang="en-US" sz="3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070993"/>
            <a:ext cx="6296860" cy="13922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8049" y="2249487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Background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488049" y="2579291"/>
            <a:ext cx="586368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Digital content creation has exploded — academic repositories, legal filings, and codebases now contain billions of documents, making manual redundancy detection infeasible.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597771"/>
            <a:ext cx="6296860" cy="13922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8049" y="3776266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Need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488049" y="4106069"/>
            <a:ext cx="586368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Plagiarism, duplicate submissions, and content redundancy demand automated, scalable detection — yet most tools rely on slow external databases.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124549"/>
            <a:ext cx="6296860" cy="11570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8049" y="5303044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Problem Statement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5488049" y="5632847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Existing systems suffer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O(n²) brute-force latency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external DB lookup bottlenecks, making real-time duplicate detection impractical at scale.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4470"/>
            <a:ext cx="2136523" cy="224334"/>
          </a:xfrm>
          <a:prstGeom prst="roundRect">
            <a:avLst>
              <a:gd name="adj" fmla="val 22118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50075" y="569471"/>
            <a:ext cx="2568908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OBJECTIVES &amp; SYSTEM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09745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 TextHack Sets Out to Achieve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5418"/>
            <a:ext cx="6938590" cy="3931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66570" y="1559223"/>
            <a:ext cx="3569901" cy="1074638"/>
          </a:xfrm>
          <a:prstGeom prst="roundRect">
            <a:avLst>
              <a:gd name="adj" fmla="val 57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0554" y="1713210"/>
            <a:ext cx="3261933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Zero External Dependencies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20554" y="2059186"/>
            <a:ext cx="3261933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100% Native Java — no external databases, APIs, or third-party libraries.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66570" y="2749153"/>
            <a:ext cx="3569901" cy="1074638"/>
          </a:xfrm>
          <a:prstGeom prst="roundRect">
            <a:avLst>
              <a:gd name="adj" fmla="val 57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0554" y="2903141"/>
            <a:ext cx="3261933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Pattern Searching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120554" y="3249116"/>
            <a:ext cx="3261933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KMP, Rabin-Karp, and Suffix Array indexing for exact match detection.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66570" y="3939084"/>
            <a:ext cx="3569901" cy="1074638"/>
          </a:xfrm>
          <a:prstGeom prst="roundRect">
            <a:avLst>
              <a:gd name="adj" fmla="val 57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20554" y="4093071"/>
            <a:ext cx="3261933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Fuzzy Matching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120554" y="4439047"/>
            <a:ext cx="3261933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Wagner-Fischer edit distance and sequence alignment for near-duplicate detection.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66570" y="5129014"/>
            <a:ext cx="3569901" cy="1074638"/>
          </a:xfrm>
          <a:prstGeom prst="roundRect">
            <a:avLst>
              <a:gd name="adj" fmla="val 57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0554" y="5283002"/>
            <a:ext cx="3261933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Similarity &amp; Citation Analysis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120554" y="5628977"/>
            <a:ext cx="3261933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Scoring engine with citation graph parsing for academic integrity checks.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553231" cy="143470"/>
          </a:xfrm>
          <a:prstGeom prst="roundRect">
            <a:avLst>
              <a:gd name="adj" fmla="val 22134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204951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LITERATURE REVIEW &amp; 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9401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Architecture &amp; Prior Work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405674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Limitations of Existing Systems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3596184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Turnitin / Plagscan: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Cloud-dependent, high latency, subscription-based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Brute-force comparators: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O(n²) complexity, no indexing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DB-backed tools: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I/O bottlenecks, network overhead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4012032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TextHack addresses these gaps with a fully in-memory, modular Java architecture.</a:t>
            </a:r>
            <a:endParaRPr lang="en-US" sz="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029270" cy="143470"/>
          </a:xfrm>
          <a:prstGeom prst="roundRect">
            <a:avLst>
              <a:gd name="adj" fmla="val 22134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52554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METHODOLOGY — PART 1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9401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Algorithmic Paradigms &amp; Exact String Matching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48246"/>
            <a:ext cx="10868745" cy="4767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55303" y="4657277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KMP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955303" y="5035070"/>
            <a:ext cx="1642671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Linear O(N+M) with LPS table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73680" y="4480799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Suffix Array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73680" y="4858592"/>
            <a:ext cx="1642670" cy="52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Lexicographic index with Kasai LCP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03632" y="1476759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Naïve Match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403632" y="1854552"/>
            <a:ext cx="1642671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O(NM) baseline comparison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01093" y="1476759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Rabin-Karp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601093" y="1854552"/>
            <a:ext cx="1642670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Rolling hash for multi-patterns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86930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pipeline progresses from baseline naïve matching through increasingly optimized algorithms, culminating in suffix-based indexing for large-scale document corpora.</a:t>
            </a:r>
            <a:endParaRPr lang="en-US" sz="7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6035576"/>
            <a:ext cx="5410759" cy="61704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9427" y="6142732"/>
            <a:ext cx="51456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Asymptotic Analysis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19427" y="6318647"/>
            <a:ext cx="514565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Big-O, Ω, Θ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bounds formally verified for each algorithm. KMP achieves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Θ(N+M)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worst-case via Longest Prefix Suffix (LPS) preprocessing.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9461" y="6035576"/>
            <a:ext cx="5410759" cy="61704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77413" y="6142732"/>
            <a:ext cx="51456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Advanced Indexing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277413" y="6318647"/>
            <a:ext cx="514565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Rabin-Karp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uses rolling hashes for O(N+M) multi-pattern search.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Suffix Arrays + Kasai's LCP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enable O(N log N) construction with O(M log N) queries.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0839"/>
            <a:ext cx="1662964" cy="228898"/>
          </a:xfrm>
          <a:prstGeom prst="roundRect">
            <a:avLst>
              <a:gd name="adj" fmla="val 22110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51762" y="726049"/>
            <a:ext cx="2091975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METHODOLOGY — PART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73331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Dynamic Programming &amp; Network Flow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61475" y="1743174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79" y="1771352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20251" y="1794867"/>
            <a:ext cx="310636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Wagner-Fischer Edit Distance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20251" y="2150170"/>
            <a:ext cx="3106362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DP matrix computes minimum insertions, deletions, and substitutions —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O(N·M)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time and space for document similarity scoring.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1475" y="3039666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79" y="306784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20251" y="3091359"/>
            <a:ext cx="310636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Sequence Alignment Models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20251" y="3446661"/>
            <a:ext cx="3106362" cy="86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Needleman-Wunsch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(global) and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Smith-Waterman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(local) detect partial plagiarism and copied subsections with affine gap penalties.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4552652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79" y="4580830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20251" y="4604345"/>
            <a:ext cx="310636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Advanced DP Optimizations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20251" y="4959648"/>
            <a:ext cx="3106362" cy="1082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Matrix Chain Multiplication and Optimal BST (OBST) demonstrate optimal substructure;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Ford-Fulkerson &amp; Edmonds-Karp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solve max-flow citation networks.</a:t>
            </a:r>
            <a:endParaRPr lang="en-US" sz="11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0460" y="1927423"/>
            <a:ext cx="6936011" cy="39304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2566"/>
            <a:ext cx="1625162" cy="287139"/>
          </a:xfrm>
          <a:prstGeom prst="roundRect">
            <a:avLst>
              <a:gd name="adj" fmla="val 22118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99220"/>
            <a:ext cx="20079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259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Tools, Technologies &amp; Development Stack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79427"/>
            <a:ext cx="378014" cy="378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69369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100% Native Java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3102372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OpenJDK 17+. Zero external libraries — pure algorithmic implementation using Java Collections Framework.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79427"/>
            <a:ext cx="378014" cy="378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3915" y="269369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IntelliJ IDEA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213915" y="3102372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Primary IDE with integrated debugging, JUnit testing, and version control via Git.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85233"/>
            <a:ext cx="378014" cy="378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469949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Interactive CLI (Main.java)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61475" y="5108178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Menu-driven interface accepts custom user input, runs duplicate checks, and displays algorithm outputs in real time.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085233"/>
            <a:ext cx="378014" cy="3780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3915" y="469949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In-Memory HashSet Registry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213915" y="510817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Modular package design with O(1) document fingerprint lookups — no file I/O or database calls during matching.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9672"/>
            <a:ext cx="1655126" cy="233263"/>
          </a:xfrm>
          <a:prstGeom prst="roundRect">
            <a:avLst>
              <a:gd name="adj" fmla="val 22122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595709"/>
            <a:ext cx="2080565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RESULTS &amp; VALIDATION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52557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Test Results &amp; Performance Observations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39528"/>
            <a:ext cx="6933530" cy="39290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5996" y="1631290"/>
            <a:ext cx="35604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Output 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75996" y="1989237"/>
            <a:ext cx="3560475" cy="191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KMP Index Matches: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Correct pattern positions returned for all test strings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Max Flow = 12: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Ford-Fulkerson validated on sample adjacency matrices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Edit Distance: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Wagner-Fischer produced accurate Levenshtein scores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Local Alignment: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Smith-Waterman detected partial substring plagiarism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75996" y="4032781"/>
            <a:ext cx="35604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Validation Approach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75996" y="4390727"/>
            <a:ext cx="356047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cases covered edge conditions: empty strings, single characters, full duplicates, and near-duplicates with typographical variations.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75996" y="5198963"/>
            <a:ext cx="3560475" cy="968970"/>
          </a:xfrm>
          <a:prstGeom prst="roundRect">
            <a:avLst>
              <a:gd name="adj" fmla="val 6657"/>
            </a:avLst>
          </a:prstGeom>
          <a:solidFill>
            <a:srgbClr val="B6FCB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483" y="5380038"/>
            <a:ext cx="191884" cy="1534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74855" y="5349478"/>
            <a:ext cx="2908128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algorithms passed functional and boundary test cases with expected asymptotic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9913"/>
            <a:ext cx="1994644" cy="287139"/>
          </a:xfrm>
          <a:prstGeom prst="roundRect">
            <a:avLst>
              <a:gd name="adj" fmla="val 22118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26566"/>
            <a:ext cx="23774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IMPACT &amp; CHALLENGES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532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Advantages, Applications &amp; Lessons Learned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019399"/>
            <a:ext cx="2507394" cy="2387104"/>
          </a:xfrm>
          <a:prstGeom prst="roundRect">
            <a:avLst>
              <a:gd name="adj" fmla="val 3326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2214761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Lightning-Fast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2699048"/>
            <a:ext cx="211668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In-memory operations eliminate I/O latency; KMP and HashSet deliver near-instant lookups.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57875" y="2019399"/>
            <a:ext cx="2507394" cy="2387104"/>
          </a:xfrm>
          <a:prstGeom prst="roundRect">
            <a:avLst>
              <a:gd name="adj" fmla="val 3326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3232" y="2214761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Zero Configuration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3553232" y="2994323"/>
            <a:ext cx="21166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database setup, no API keys — plug-and-run on any JVM-enabled machine.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595515"/>
            <a:ext cx="5203794" cy="1479848"/>
          </a:xfrm>
          <a:prstGeom prst="roundRect">
            <a:avLst>
              <a:gd name="adj" fmla="val 53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832" y="4790877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Real-World Use Cases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56832" y="5275163"/>
            <a:ext cx="48130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Plagiarism detection, document clustering, search indexing, and citation network analysis.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32776" y="200767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Challenges &amp; Solutions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32776" y="2480072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Memory overhead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large suffix arrays → mitigated via lazy construction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Hash collisions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Rabin-Karp → resolved with double hashing verification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DP space complexity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optimized using rolling row compression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CLI UX design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iterative refinement based on peer feedback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225"/>
            <a:ext cx="2413932" cy="273645"/>
          </a:xfrm>
          <a:prstGeom prst="roundRect">
            <a:avLst>
              <a:gd name="adj" fmla="val 22121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769521" y="584200"/>
            <a:ext cx="2807424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CONCLUSION &amp; 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93702"/>
            <a:ext cx="10868745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Looking Ahead — Future Enhancements &amp; Summary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2436882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Future Roadmap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041" y="2911425"/>
            <a:ext cx="270166" cy="2701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6851" y="2902545"/>
            <a:ext cx="462923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JavaFX GUI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Replace CLI with an interactive graphical interface for broader usability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041" y="3817789"/>
            <a:ext cx="270166" cy="2701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6851" y="3808909"/>
            <a:ext cx="462923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Cloud Deployment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Containerize with Docker and deploy on AWS/GCP for scalable access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041" y="4724152"/>
            <a:ext cx="270166" cy="2701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46851" y="4715272"/>
            <a:ext cx="462923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NLP Extensions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Integrate TF-IDF and cosine similarity for semantic duplicate detection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321961" y="2436882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321961" y="2881015"/>
            <a:ext cx="5214609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TextHack demonstrates that 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100% native Java framework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can deliver production-grade duplicate detection — combining KMP, Rabin-Karp, Wagner-Fischer, and Ford-Fulkerson without external dependencies.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321961" y="4245074"/>
            <a:ext cx="5214609" cy="25400"/>
          </a:xfrm>
          <a:prstGeom prst="roundRect">
            <a:avLst>
              <a:gd name="adj" fmla="val 49999"/>
            </a:avLst>
          </a:prstGeom>
          <a:solidFill>
            <a:srgbClr val="404155">
              <a:alpha val="5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6321961" y="4517598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References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6321961" y="4961731"/>
            <a:ext cx="5214609" cy="1306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Cormen et al.,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Introduction to Algorithms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(CLRS), 3rd Ed.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Sedgewick &amp; Wayne,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Algorithms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4th Ed.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Oracle OpenJDK Documentation, Java 17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Wagner &amp; Fischer (1974),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String-to-String Correction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2026-10-09T07:37:56Z</dcterms:created>
  <dcterms:modified xsi:type="dcterms:W3CDTF">2026-10-09T07:37:56Z</dcterms:modified>
</cp:coreProperties>
</file>