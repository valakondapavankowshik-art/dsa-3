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Fragment Mono"/>
      <p:regular r:id="rId201314"/>
    </p:embeddedFont>
    <p:embeddedFont>
      <p:font typeface="Inter Tight"/>
      <p:regular r:id="rId201315"/>
    </p:embeddedFont>
    <p:embeddedFont>
      <p:font typeface="Inter Tight SemiBold"/>
      <p:regular r:id="rId201316"/>
    </p:embeddedFont>
    <p:embeddedFont>
      <p:font typeface="Inter Tight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14860"/>
            <a:ext cx="6908627" cy="4331196"/>
          </a:xfrm>
          <a:prstGeom prst="roundRect">
            <a:avLst>
              <a:gd name="adj" fmla="val 748"/>
            </a:avLst>
          </a:prstGeom>
          <a:solidFill>
            <a:srgbClr val="E2DAFB"/>
          </a:solidFill>
          <a:ln/>
        </p:spPr>
      </p:sp>
      <p:sp>
        <p:nvSpPr>
          <p:cNvPr id="3" name="Text 1"/>
          <p:cNvSpPr/>
          <p:nvPr/>
        </p:nvSpPr>
        <p:spPr>
          <a:xfrm>
            <a:off x="152396" y="2441873"/>
            <a:ext cx="6603835" cy="965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8000" spc="-360" kern="100" dirty="0">
                <a:solidFill>
                  <a:srgbClr val="1A1A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TextHack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152396" y="3520230"/>
            <a:ext cx="6603835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spc="-119" kern="100" dirty="0">
                <a:solidFill>
                  <a:srgbClr val="1A1A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High-Performance Pattern Matching &amp; Duplicate Document Detection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52396" y="4554835"/>
            <a:ext cx="6603835" cy="18896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spcAft>
                <a:spcPts val="15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B.TECH FINAL YEAR PROJECT REVIEW · DEPARTMENT OF AI &amp; DATA SCIENCE · KL UNIVERSITY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2510080014-MANOHAR CHOWDARY KROTHAPALLI 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2510080009-AKHIL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2510080040-PAVAN KOWSHIK</a:t>
            </a:r>
            <a:endParaRPr lang="en-US" sz="1300" dirty="0"/>
          </a:p>
          <a:p>
            <a:pPr algn="l" indent="0" marL="0">
              <a:lnSpc>
                <a:spcPct val="108000"/>
              </a:lnSpc>
              <a:spcAft>
                <a:spcPts val="15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2510080047-B.JESHWANTH REDDY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PRESENTER: VALAKONDA PAVAN KOWSHIK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2382984"/>
            <a:ext cx="11277318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spc="-119" kern="100" dirty="0">
                <a:solidFill>
                  <a:srgbClr val="12121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Legacy plagiarism tools lose time in two places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189" y="3214390"/>
            <a:ext cx="5486263" cy="636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2000"/>
              </a:lnSpc>
              <a:buSzPct val="100000"/>
              <a:buChar char="•"/>
            </a:pPr>
            <a:r>
              <a:rPr lang="en-US" sz="1700" b="1" dirty="0">
                <a:solidFill>
                  <a:srgbClr val="1A1A1A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Search:</a:t>
            </a:r>
            <a:pPr algn="l" marL="345440" indent="-345440">
              <a:lnSpc>
                <a:spcPct val="112000"/>
              </a:lnSpc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brute-force matching scales at O(N × M)</a:t>
            </a:r>
            <a:endParaRPr lang="en-US" sz="1700" dirty="0"/>
          </a:p>
          <a:p>
            <a:pPr algn="l" marL="345440" indent="-345440">
              <a:lnSpc>
                <a:spcPct val="112000"/>
              </a:lnSpc>
              <a:buSzPct val="100000"/>
              <a:buChar char="•"/>
            </a:pPr>
            <a:r>
              <a:rPr lang="en-US" sz="1700" b="1" dirty="0">
                <a:solidFill>
                  <a:srgbClr val="1A1A1A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Registration:</a:t>
            </a:r>
            <a:pPr algn="l" marL="345440" indent="-345440">
              <a:lnSpc>
                <a:spcPct val="112000"/>
              </a:lnSpc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database-heavy validation adds latency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248244" y="2985790"/>
            <a:ext cx="5486263" cy="1534021"/>
          </a:xfrm>
          <a:prstGeom prst="rect">
            <a:avLst/>
          </a:prstGeom>
          <a:solidFill>
            <a:srgbClr val="E2DAFB"/>
          </a:solidFill>
          <a:ln/>
        </p:spPr>
      </p:sp>
      <p:sp>
        <p:nvSpPr>
          <p:cNvPr id="5" name="Text 3"/>
          <p:cNvSpPr/>
          <p:nvPr/>
        </p:nvSpPr>
        <p:spPr>
          <a:xfrm>
            <a:off x="6553036" y="3294082"/>
            <a:ext cx="518147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53036" y="3640296"/>
            <a:ext cx="4876678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Deliver O(N + M) pattern search and O(1) duplicate registration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1402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52" kern="100" dirty="0">
                <a:solidFill>
                  <a:srgbClr val="1A1A1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02 · THE RESOLUTION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735060"/>
            <a:ext cx="11023324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spc="-119" kern="100" dirty="0">
                <a:solidFill>
                  <a:srgbClr val="12121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TextHack pairs algorithmic efficiency with in-memory validation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1731566"/>
            <a:ext cx="3471180" cy="12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1947466"/>
            <a:ext cx="1360453" cy="33664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739062" y="2017490"/>
            <a:ext cx="1711084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27" kern="10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LIMITATION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9585" y="2384127"/>
            <a:ext cx="347118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spc="-12" kern="100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Disk-based SQL indexing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09585" y="2914511"/>
            <a:ext cx="3471180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Creates memory overhead in commercial tools.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85557" y="1731566"/>
            <a:ext cx="3471280" cy="12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Shape 8"/>
          <p:cNvSpPr/>
          <p:nvPr/>
        </p:nvSpPr>
        <p:spPr>
          <a:xfrm>
            <a:off x="4385557" y="1947466"/>
            <a:ext cx="1360453" cy="33664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Text 9"/>
          <p:cNvSpPr/>
          <p:nvPr/>
        </p:nvSpPr>
        <p:spPr>
          <a:xfrm>
            <a:off x="4515035" y="2017490"/>
            <a:ext cx="1711084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27" kern="10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RESOLUTION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385557" y="2384127"/>
            <a:ext cx="347128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spc="-12" kern="100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JVM HashSets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385557" y="2914511"/>
            <a:ext cx="3471280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Enable fast duplicate checks in memory.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161629" y="1731566"/>
            <a:ext cx="3471280" cy="12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Shape 13"/>
          <p:cNvSpPr/>
          <p:nvPr/>
        </p:nvSpPr>
        <p:spPr>
          <a:xfrm>
            <a:off x="8161629" y="1947466"/>
            <a:ext cx="1580714" cy="33664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Text 14"/>
          <p:cNvSpPr/>
          <p:nvPr/>
        </p:nvSpPr>
        <p:spPr>
          <a:xfrm>
            <a:off x="8291107" y="2017490"/>
            <a:ext cx="1931344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27" kern="10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OPTIMIZATION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161629" y="2384127"/>
            <a:ext cx="347128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spc="-12" kern="100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KMP prefix tables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161629" y="2914511"/>
            <a:ext cx="3471280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Reduce redundant comparisons during search.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09585" y="4964509"/>
            <a:ext cx="5359266" cy="1512491"/>
          </a:xfrm>
          <a:prstGeom prst="rect">
            <a:avLst/>
          </a:prstGeom>
          <a:solidFill>
            <a:srgbClr val="E2DAFB"/>
          </a:solidFill>
          <a:ln/>
        </p:spPr>
      </p:sp>
      <p:sp>
        <p:nvSpPr>
          <p:cNvPr id="20" name="Text 18"/>
          <p:cNvSpPr/>
          <p:nvPr/>
        </p:nvSpPr>
        <p:spPr>
          <a:xfrm>
            <a:off x="812780" y="5255974"/>
            <a:ext cx="4952876" cy="675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5600" spc="-252" kern="100" dirty="0">
                <a:solidFill>
                  <a:srgbClr val="000000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O(N + M)</a:t>
            </a:r>
            <a:endParaRPr lang="en-US" sz="5600" dirty="0"/>
          </a:p>
        </p:txBody>
      </p:sp>
      <p:sp>
        <p:nvSpPr>
          <p:cNvPr id="21" name="Text 19"/>
          <p:cNvSpPr/>
          <p:nvPr/>
        </p:nvSpPr>
        <p:spPr>
          <a:xfrm>
            <a:off x="812780" y="6062682"/>
            <a:ext cx="5156071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PATTERN SEARCH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73643" y="4964509"/>
            <a:ext cx="5359266" cy="1512491"/>
          </a:xfrm>
          <a:prstGeom prst="rect">
            <a:avLst/>
          </a:prstGeom>
          <a:solidFill>
            <a:srgbClr val="E6E6EA"/>
          </a:solidFill>
          <a:ln/>
        </p:spPr>
      </p:sp>
      <p:sp>
        <p:nvSpPr>
          <p:cNvPr id="23" name="Text 21"/>
          <p:cNvSpPr/>
          <p:nvPr/>
        </p:nvSpPr>
        <p:spPr>
          <a:xfrm>
            <a:off x="6476838" y="5255974"/>
            <a:ext cx="4952876" cy="675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5600" spc="-252" kern="100" dirty="0">
                <a:solidFill>
                  <a:srgbClr val="000000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O(1)</a:t>
            </a:r>
            <a:endParaRPr lang="en-US" sz="5600" dirty="0"/>
          </a:p>
        </p:txBody>
      </p:sp>
      <p:sp>
        <p:nvSpPr>
          <p:cNvPr id="24" name="Text 22"/>
          <p:cNvSpPr/>
          <p:nvPr/>
        </p:nvSpPr>
        <p:spPr>
          <a:xfrm>
            <a:off x="6476838" y="6062682"/>
            <a:ext cx="5156071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DUPLICATE REGISTRATION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88620"/>
            <a:ext cx="1163290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52" kern="100" dirty="0">
                <a:solidFill>
                  <a:srgbClr val="1A1A1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03 · 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58786" y="709660"/>
            <a:ext cx="11074123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spc="-119" kern="100" dirty="0">
                <a:solidFill>
                  <a:srgbClr val="12121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A modular pipeline separates ingestion, search, and auditability</a:t>
            </a:r>
            <a:endParaRPr lang="en-US" sz="3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786" y="2045891"/>
            <a:ext cx="5429114" cy="1428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4681" y="2909491"/>
            <a:ext cx="4997325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66" kern="100" dirty="0">
                <a:solidFill>
                  <a:srgbClr val="1A1A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Text Ingestion</a:t>
            </a:r>
            <a:endParaRPr lang="en-US" sz="1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3795" y="1722041"/>
            <a:ext cx="5429114" cy="1428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19689" y="2585641"/>
            <a:ext cx="4997325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66" kern="100" dirty="0">
                <a:solidFill>
                  <a:srgbClr val="1A1A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Normalization</a:t>
            </a:r>
            <a:endParaRPr lang="en-US" sz="19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86" y="3966766"/>
            <a:ext cx="5429114" cy="14287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74681" y="4830366"/>
            <a:ext cx="4997325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66" kern="100" dirty="0">
                <a:solidFill>
                  <a:srgbClr val="1A1A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Processing Engine</a:t>
            </a:r>
            <a:endParaRPr lang="en-US" sz="19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3795" y="3642916"/>
            <a:ext cx="5429114" cy="14287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419689" y="4506516"/>
            <a:ext cx="4997325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66" kern="100" dirty="0">
                <a:solidFill>
                  <a:srgbClr val="1A1A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Audit Trail Registry</a:t>
            </a:r>
            <a:endParaRPr lang="en-US" sz="1900" dirty="0"/>
          </a:p>
        </p:txBody>
      </p:sp>
      <p:sp>
        <p:nvSpPr>
          <p:cNvPr id="12" name="Shape 6"/>
          <p:cNvSpPr/>
          <p:nvPr/>
        </p:nvSpPr>
        <p:spPr>
          <a:xfrm>
            <a:off x="558786" y="5855395"/>
            <a:ext cx="3230779" cy="64700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7"/>
          <p:cNvSpPr/>
          <p:nvPr/>
        </p:nvSpPr>
        <p:spPr>
          <a:xfrm>
            <a:off x="787380" y="6036687"/>
            <a:ext cx="3002185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SEPARATION OF CONCERNS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4094259" y="6041291"/>
            <a:ext cx="7538650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Pattern matching and duplicate validation remain cleanly decoupled.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88620"/>
            <a:ext cx="1163290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52" kern="100" dirty="0">
                <a:solidFill>
                  <a:srgbClr val="1A1A1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04 · CORE ALGORITHMS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58786" y="709660"/>
            <a:ext cx="11074123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spc="-119" kern="100" dirty="0">
                <a:solidFill>
                  <a:srgbClr val="12121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KMP skips comparisons; HashSet makes registration constant-time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58786" y="1744266"/>
            <a:ext cx="3892849" cy="2379166"/>
          </a:xfrm>
          <a:prstGeom prst="rect">
            <a:avLst/>
          </a:prstGeom>
          <a:solidFill>
            <a:srgbClr val="E2DAFB"/>
          </a:solidFill>
          <a:ln/>
        </p:spPr>
      </p:sp>
      <p:sp>
        <p:nvSpPr>
          <p:cNvPr id="5" name="Text 3"/>
          <p:cNvSpPr/>
          <p:nvPr/>
        </p:nvSpPr>
        <p:spPr>
          <a:xfrm>
            <a:off x="787380" y="2061131"/>
            <a:ext cx="3435661" cy="675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5600" spc="-252" kern="100" dirty="0">
                <a:solidFill>
                  <a:srgbClr val="000000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O(N + M)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787380" y="2789734"/>
            <a:ext cx="343566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spc="-12" kern="1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KMP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87380" y="3320117"/>
            <a:ext cx="3435661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KMP:</a:t>
            </a:r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LPS prefix tables enable O(N + M) pattern search</a:t>
            </a:r>
            <a:endParaRPr lang="en-US" sz="17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1121" y="1744266"/>
            <a:ext cx="6571788" cy="180151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564102" y="2136378"/>
            <a:ext cx="4481521" cy="208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46" kern="100" dirty="0">
                <a:solidFill>
                  <a:srgbClr val="000000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KMP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564102" y="2931555"/>
            <a:ext cx="4481521" cy="208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46" kern="100" dirty="0">
                <a:solidFill>
                  <a:srgbClr val="000000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HashSet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58786" y="4503003"/>
            <a:ext cx="3462747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Registry:</a:t>
            </a:r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normalized document strings map to JVM memory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478722" y="4503003"/>
            <a:ext cx="7154187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Lookup:</a:t>
            </a:r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duplicate validation targets true O(1) access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243777" y="4317107"/>
            <a:ext cx="12700" cy="938411"/>
          </a:xfrm>
          <a:prstGeom prst="rect">
            <a:avLst/>
          </a:prstGeom>
          <a:solidFill>
            <a:srgbClr val="1A1A1A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1402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52" kern="100" dirty="0">
                <a:solidFill>
                  <a:srgbClr val="1A1A1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05 · IMPLEMENTATION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735060"/>
            <a:ext cx="11023324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spc="-119" kern="100" dirty="0">
                <a:solidFill>
                  <a:srgbClr val="12121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A lightweight stack keeps the system practical to build and extend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2983210"/>
            <a:ext cx="3369583" cy="12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3224510"/>
            <a:ext cx="1029964" cy="33664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739062" y="3294535"/>
            <a:ext cx="1380594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27" kern="10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BACKEND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9585" y="3727847"/>
            <a:ext cx="3369583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spc="-12" kern="100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Java data structures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09585" y="4258231"/>
            <a:ext cx="3369583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Java data structures and processing logic.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436356" y="2983210"/>
            <a:ext cx="3369682" cy="12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Shape 8"/>
          <p:cNvSpPr/>
          <p:nvPr/>
        </p:nvSpPr>
        <p:spPr>
          <a:xfrm>
            <a:off x="4436356" y="3224510"/>
            <a:ext cx="919834" cy="33664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Text 9"/>
          <p:cNvSpPr/>
          <p:nvPr/>
        </p:nvSpPr>
        <p:spPr>
          <a:xfrm>
            <a:off x="4565833" y="3294535"/>
            <a:ext cx="1270464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27" kern="10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CLIENT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36356" y="3727847"/>
            <a:ext cx="336968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spc="-12" kern="100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JavaScript interactivity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436356" y="4258231"/>
            <a:ext cx="3369682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JavaScript interactivity keeps validation responsive.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63227" y="2983210"/>
            <a:ext cx="3369682" cy="12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Shape 13"/>
          <p:cNvSpPr/>
          <p:nvPr/>
        </p:nvSpPr>
        <p:spPr>
          <a:xfrm>
            <a:off x="8263227" y="3224510"/>
            <a:ext cx="1470584" cy="33664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Text 14"/>
          <p:cNvSpPr/>
          <p:nvPr/>
        </p:nvSpPr>
        <p:spPr>
          <a:xfrm>
            <a:off x="8392704" y="3294535"/>
            <a:ext cx="1821214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27" kern="10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ENVIRONMENT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63227" y="3727847"/>
            <a:ext cx="336968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spc="-12" kern="100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HTML5 + Tailwind CSS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263227" y="4258231"/>
            <a:ext cx="3369682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HTML5, Tailwind CSS, VS Code, and Git.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09585" y="6265882"/>
            <a:ext cx="1158211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A FOCUSED STACK SUPPORTS PRACTICAL IMPLEMENTATION AND FUTURE EXTENSION.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88620"/>
            <a:ext cx="1163290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52" kern="100" dirty="0">
                <a:solidFill>
                  <a:srgbClr val="1A1A1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06 · OBSERVABILITY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58786" y="709660"/>
            <a:ext cx="11074123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spc="-119" kern="100" dirty="0">
                <a:solidFill>
                  <a:srgbClr val="12121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Implementation turns performance into visible audit feedback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58786" y="1312466"/>
            <a:ext cx="4246754" cy="5189934"/>
          </a:xfrm>
          <a:prstGeom prst="rect">
            <a:avLst/>
          </a:prstGeom>
          <a:solidFill>
            <a:srgbClr val="A186F3"/>
          </a:solidFill>
          <a:ln/>
        </p:spPr>
      </p:sp>
      <p:sp>
        <p:nvSpPr>
          <p:cNvPr id="5" name="Text 3"/>
          <p:cNvSpPr/>
          <p:nvPr/>
        </p:nvSpPr>
        <p:spPr>
          <a:xfrm>
            <a:off x="863578" y="1620758"/>
            <a:ext cx="3941962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LOOKUP LATENCY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3578" y="3006074"/>
            <a:ext cx="3637169" cy="2509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10400" spc="-572" kern="100" dirty="0">
                <a:solidFill>
                  <a:srgbClr val="000000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&lt; 0.1 ms</a:t>
            </a:r>
            <a:endParaRPr lang="en-US" sz="10400" dirty="0"/>
          </a:p>
        </p:txBody>
      </p:sp>
      <p:sp>
        <p:nvSpPr>
          <p:cNvPr id="7" name="Text 5"/>
          <p:cNvSpPr/>
          <p:nvPr/>
        </p:nvSpPr>
        <p:spPr>
          <a:xfrm>
            <a:off x="863578" y="5572681"/>
            <a:ext cx="3941962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sub-millisecond execution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3578" y="5986482"/>
            <a:ext cx="3941962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PER LOOKUP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516623" y="1312466"/>
            <a:ext cx="6116286" cy="15146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Text 8"/>
          <p:cNvSpPr/>
          <p:nvPr/>
        </p:nvSpPr>
        <p:spPr>
          <a:xfrm>
            <a:off x="5669019" y="1978402"/>
            <a:ext cx="596389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52" kern="10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AUDIT_TRAIL.LOG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516623" y="2827139"/>
            <a:ext cx="6116286" cy="3675261"/>
          </a:xfrm>
          <a:prstGeom prst="rect">
            <a:avLst/>
          </a:prstGeom>
          <a:solidFill>
            <a:srgbClr val="E6E6E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08716" y="3071932"/>
            <a:ext cx="5824193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REAL-TIME UI LOGS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808716" y="3562449"/>
            <a:ext cx="919834" cy="33664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5938193" y="3632474"/>
            <a:ext cx="1270464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27" kern="10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UNIQUE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436259" y="3570545"/>
            <a:ext cx="3904557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New entry registered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808716" y="4203898"/>
            <a:ext cx="1250323" cy="336649"/>
          </a:xfrm>
          <a:prstGeom prst="rect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38193" y="4273923"/>
            <a:ext cx="1345670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27" kern="100" dirty="0">
                <a:solidFill>
                  <a:srgbClr val="1A1A1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DUPLICATE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36259" y="4211995"/>
            <a:ext cx="3904557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Instant duplicate alert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808716" y="5835372"/>
            <a:ext cx="5532101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AUDIT TRAILS DISTINGUISH UNIQUE ENTRIES FROM INSTANT DUPLICATE ALERTS.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277513" y="3410049"/>
            <a:ext cx="12700" cy="64144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1" name="Shape 19"/>
          <p:cNvSpPr/>
          <p:nvPr/>
        </p:nvSpPr>
        <p:spPr>
          <a:xfrm>
            <a:off x="5808716" y="4045148"/>
            <a:ext cx="1475147" cy="12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2" name="Shape 20"/>
          <p:cNvSpPr/>
          <p:nvPr/>
        </p:nvSpPr>
        <p:spPr>
          <a:xfrm>
            <a:off x="7277513" y="4051498"/>
            <a:ext cx="12700" cy="64144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3" name="Shape 21"/>
          <p:cNvSpPr/>
          <p:nvPr/>
        </p:nvSpPr>
        <p:spPr>
          <a:xfrm>
            <a:off x="7283863" y="4045148"/>
            <a:ext cx="4056953" cy="12700"/>
          </a:xfrm>
          <a:prstGeom prst="rect">
            <a:avLst/>
          </a:prstGeom>
          <a:solidFill>
            <a:srgbClr val="1A1A1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1402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52" kern="100" dirty="0">
                <a:solidFill>
                  <a:srgbClr val="1A1A1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07 · APPLICATIONS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735060"/>
            <a:ext cx="11023324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spc="-119" kern="100" dirty="0">
                <a:solidFill>
                  <a:srgbClr val="12121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TextHack scales from academic screening to enterprise analytics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1756966"/>
            <a:ext cx="5359266" cy="2381647"/>
          </a:xfrm>
          <a:prstGeom prst="rect">
            <a:avLst/>
          </a:prstGeom>
          <a:solidFill>
            <a:srgbClr val="E2DAFB"/>
          </a:solidFill>
          <a:ln/>
        </p:spPr>
      </p:sp>
      <p:sp>
        <p:nvSpPr>
          <p:cNvPr id="5" name="Text 3"/>
          <p:cNvSpPr/>
          <p:nvPr/>
        </p:nvSpPr>
        <p:spPr>
          <a:xfrm>
            <a:off x="863578" y="2099231"/>
            <a:ext cx="4851279" cy="675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5600" spc="-252" kern="100" dirty="0">
                <a:solidFill>
                  <a:srgbClr val="000000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Advantages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863578" y="2902446"/>
            <a:ext cx="4851279" cy="9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2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zero speed scaling degradation</a:t>
            </a:r>
            <a:endParaRPr lang="en-US" sz="1700" dirty="0"/>
          </a:p>
          <a:p>
            <a:pPr algn="l" marL="345440" indent="-345440">
              <a:lnSpc>
                <a:spcPct val="112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minimal memory footprint</a:t>
            </a:r>
            <a:endParaRPr lang="en-US" sz="1700" dirty="0"/>
          </a:p>
          <a:p>
            <a:pPr algn="l" marL="345440" indent="-345440">
              <a:lnSpc>
                <a:spcPct val="112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high accuracy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73643" y="1756966"/>
            <a:ext cx="5359266" cy="2381647"/>
          </a:xfrm>
          <a:prstGeom prst="rect">
            <a:avLst/>
          </a:prstGeom>
          <a:solidFill>
            <a:srgbClr val="E6E6EA"/>
          </a:solidFill>
          <a:ln/>
        </p:spPr>
      </p:sp>
      <p:sp>
        <p:nvSpPr>
          <p:cNvPr id="8" name="Text 6"/>
          <p:cNvSpPr/>
          <p:nvPr/>
        </p:nvSpPr>
        <p:spPr>
          <a:xfrm>
            <a:off x="6527637" y="2099231"/>
            <a:ext cx="4851279" cy="675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5600" spc="-252" kern="100" dirty="0">
                <a:solidFill>
                  <a:srgbClr val="000000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Applications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6527637" y="2902446"/>
            <a:ext cx="4851279" cy="9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2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assignment screening</a:t>
            </a:r>
            <a:endParaRPr lang="en-US" sz="1700" dirty="0"/>
          </a:p>
          <a:p>
            <a:pPr algn="l" marL="345440" indent="-345440">
              <a:lnSpc>
                <a:spcPct val="112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code repository checks</a:t>
            </a:r>
            <a:endParaRPr lang="en-US" sz="1700" dirty="0"/>
          </a:p>
          <a:p>
            <a:pPr algn="l" marL="345440" indent="-345440">
              <a:lnSpc>
                <a:spcPct val="112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enterprise text analytics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09585" y="5364282"/>
            <a:ext cx="3674375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ACADEMIC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12554" y="5368885"/>
            <a:ext cx="7120355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Assignment screening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09585" y="6011287"/>
            <a:ext cx="3674375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ENTERPRISE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12554" y="6015891"/>
            <a:ext cx="7120355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Code repository checks and enterprise text analytics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277610" y="5182989"/>
            <a:ext cx="12700" cy="64700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Shape 13"/>
          <p:cNvSpPr/>
          <p:nvPr/>
        </p:nvSpPr>
        <p:spPr>
          <a:xfrm>
            <a:off x="609585" y="5823645"/>
            <a:ext cx="3674375" cy="12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Shape 14"/>
          <p:cNvSpPr/>
          <p:nvPr/>
        </p:nvSpPr>
        <p:spPr>
          <a:xfrm>
            <a:off x="4277610" y="5829995"/>
            <a:ext cx="12700" cy="64700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Shape 15"/>
          <p:cNvSpPr/>
          <p:nvPr/>
        </p:nvSpPr>
        <p:spPr>
          <a:xfrm>
            <a:off x="4283960" y="5823645"/>
            <a:ext cx="7348949" cy="12700"/>
          </a:xfrm>
          <a:prstGeom prst="rect">
            <a:avLst/>
          </a:prstGeom>
          <a:solidFill>
            <a:srgbClr val="1A1A1A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558786" y="439420"/>
            <a:ext cx="431789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52" kern="10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08 · FUTURE SCOPE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58786" y="3167023"/>
            <a:ext cx="3962301" cy="2702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5600" spc="-252" kern="10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Exact</a:t>
            </a:r>
            <a:endParaRPr lang="en-US" sz="5600" dirty="0"/>
          </a:p>
          <a:p>
            <a:pPr algn="l" indent="0" marL="0">
              <a:lnSpc>
                <a:spcPct val="79000"/>
              </a:lnSpc>
              <a:buNone/>
            </a:pPr>
            <a:r>
              <a:rPr lang="en-US" sz="5600" spc="-252" kern="10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today.</a:t>
            </a:r>
            <a:endParaRPr lang="en-US" sz="5600" dirty="0"/>
          </a:p>
          <a:p>
            <a:pPr algn="l" indent="0" marL="0">
              <a:lnSpc>
                <a:spcPct val="79000"/>
              </a:lnSpc>
              <a:buNone/>
            </a:pPr>
            <a:r>
              <a:rPr lang="en-US" sz="5600" spc="-252" kern="10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Semantic</a:t>
            </a:r>
            <a:endParaRPr lang="en-US" sz="5600" dirty="0"/>
          </a:p>
          <a:p>
            <a:pPr algn="l" indent="0" marL="0">
              <a:lnSpc>
                <a:spcPct val="79000"/>
              </a:lnSpc>
              <a:buNone/>
            </a:pPr>
            <a:r>
              <a:rPr lang="en-US" sz="5600" spc="-252" kern="10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next.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58786" y="6000472"/>
            <a:ext cx="3962301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CURRENT IMPLEMENTATION → FUTURE DIRECTION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283068" y="476695"/>
            <a:ext cx="629904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spc="-119" kern="100" dirty="0">
                <a:solidFill>
                  <a:srgbClr val="12121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The next challenge is semantic similarity at larger scale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283068" y="1714500"/>
            <a:ext cx="1661079" cy="543917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5412545" y="1784525"/>
            <a:ext cx="1402124" cy="414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27" kern="10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CURRENT CHALLENGE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401335" y="1722596"/>
            <a:ext cx="4180775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Manage memory allocation during large text-block parsing.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283068" y="2703711"/>
            <a:ext cx="1580714" cy="336649"/>
          </a:xfrm>
          <a:prstGeom prst="rect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12545" y="2773736"/>
            <a:ext cx="1760196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27" kern="100" dirty="0">
                <a:solidFill>
                  <a:srgbClr val="1A1A1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FUTURE SCOPE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401335" y="2711807"/>
            <a:ext cx="4180775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Integrate TF-IDF and Cosine Similarity.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283068" y="3446760"/>
            <a:ext cx="1250323" cy="336649"/>
          </a:xfrm>
          <a:prstGeom prst="rect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12545" y="3516785"/>
            <a:ext cx="1600954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27" kern="100" dirty="0">
                <a:solidFill>
                  <a:srgbClr val="1A1A1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DIRECTION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401335" y="3454856"/>
            <a:ext cx="4180775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Extend exact matching toward advanced semantic fuzzy matching.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166391" y="1511300"/>
            <a:ext cx="12700" cy="989211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Shape 15"/>
          <p:cNvSpPr/>
          <p:nvPr/>
        </p:nvSpPr>
        <p:spPr>
          <a:xfrm>
            <a:off x="5283068" y="2494161"/>
            <a:ext cx="1889673" cy="12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Shape 16"/>
          <p:cNvSpPr/>
          <p:nvPr/>
        </p:nvSpPr>
        <p:spPr>
          <a:xfrm>
            <a:off x="7166391" y="2500511"/>
            <a:ext cx="12700" cy="74304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9" name="Shape 17"/>
          <p:cNvSpPr/>
          <p:nvPr/>
        </p:nvSpPr>
        <p:spPr>
          <a:xfrm>
            <a:off x="7172741" y="2494161"/>
            <a:ext cx="4409369" cy="12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0" name="Shape 18"/>
          <p:cNvSpPr/>
          <p:nvPr/>
        </p:nvSpPr>
        <p:spPr>
          <a:xfrm>
            <a:off x="5283068" y="3237210"/>
            <a:ext cx="1889673" cy="12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1" name="Shape 19"/>
          <p:cNvSpPr/>
          <p:nvPr/>
        </p:nvSpPr>
        <p:spPr>
          <a:xfrm>
            <a:off x="7166391" y="3243560"/>
            <a:ext cx="12700" cy="989211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2" name="Shape 20"/>
          <p:cNvSpPr/>
          <p:nvPr/>
        </p:nvSpPr>
        <p:spPr>
          <a:xfrm>
            <a:off x="7172741" y="3237210"/>
            <a:ext cx="4409369" cy="12700"/>
          </a:xfrm>
          <a:prstGeom prst="rect">
            <a:avLst/>
          </a:prstGeom>
          <a:solidFill>
            <a:srgbClr val="1A1A1A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27797" cy="6858000"/>
          </a:xfrm>
          <a:prstGeom prst="rect">
            <a:avLst/>
          </a:prstGeom>
          <a:solidFill>
            <a:srgbClr val="E2DAFB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541020"/>
            <a:ext cx="751821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52" kern="100" dirty="0">
                <a:solidFill>
                  <a:srgbClr val="000000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FINAL REVIEW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2158703"/>
            <a:ext cx="7086423" cy="386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8000" spc="-360" kern="100" dirty="0">
                <a:solidFill>
                  <a:srgbClr val="000000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Fast exact</a:t>
            </a:r>
            <a:endParaRPr lang="en-US" sz="8000" dirty="0"/>
          </a:p>
          <a:p>
            <a:pPr algn="l" indent="0" marL="0">
              <a:lnSpc>
                <a:spcPct val="79000"/>
              </a:lnSpc>
              <a:buNone/>
            </a:pPr>
            <a:r>
              <a:rPr lang="en-US" sz="8000" spc="-360" kern="100" dirty="0">
                <a:solidFill>
                  <a:srgbClr val="000000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matching.</a:t>
            </a:r>
            <a:endParaRPr lang="en-US" sz="8000" dirty="0"/>
          </a:p>
          <a:p>
            <a:pPr algn="l" indent="0" marL="0">
              <a:lnSpc>
                <a:spcPct val="79000"/>
              </a:lnSpc>
              <a:buNone/>
            </a:pPr>
            <a:r>
              <a:rPr lang="en-US" sz="8000" spc="-360" kern="100" dirty="0">
                <a:solidFill>
                  <a:srgbClr val="000000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Duplicate</a:t>
            </a:r>
            <a:endParaRPr lang="en-US" sz="8000" dirty="0"/>
          </a:p>
          <a:p>
            <a:pPr algn="l" indent="0" marL="0">
              <a:lnSpc>
                <a:spcPct val="79000"/>
              </a:lnSpc>
              <a:buNone/>
            </a:pPr>
            <a:r>
              <a:rPr lang="en-US" sz="8000" spc="-360" kern="100" dirty="0">
                <a:solidFill>
                  <a:srgbClr val="000000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prevention.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609585" y="6113482"/>
            <a:ext cx="7518212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TEXTHACK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127797" y="0"/>
            <a:ext cx="4063898" cy="6858000"/>
          </a:xfrm>
          <a:prstGeom prst="rect">
            <a:avLst/>
          </a:prstGeom>
          <a:solidFill>
            <a:srgbClr val="A186F3"/>
          </a:solidFill>
          <a:ln/>
        </p:spPr>
      </p:sp>
      <p:sp>
        <p:nvSpPr>
          <p:cNvPr id="7" name="Text 5"/>
          <p:cNvSpPr/>
          <p:nvPr/>
        </p:nvSpPr>
        <p:spPr>
          <a:xfrm>
            <a:off x="8432589" y="1875877"/>
            <a:ext cx="3327317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spc="-119" kern="100" dirty="0">
                <a:solidFill>
                  <a:srgbClr val="000000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TextHack delivers fast exact matching and duplicate prevention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432589" y="4213979"/>
            <a:ext cx="3327317" cy="1165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 high-performance text analytics and duplicate prevention framework, built for responsive validation and clear auditability.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432589" y="5617567"/>
            <a:ext cx="3327218" cy="31651"/>
          </a:xfrm>
          <a:prstGeom prst="roundRect">
            <a:avLst>
              <a:gd name="adj" fmla="val 49998"/>
            </a:avLst>
          </a:prstGeom>
          <a:solidFill>
            <a:srgbClr val="1A1A1A"/>
          </a:solidFill>
          <a:ln/>
        </p:spPr>
      </p:sp>
      <p:sp>
        <p:nvSpPr>
          <p:cNvPr id="10" name="Text 8"/>
          <p:cNvSpPr/>
          <p:nvPr/>
        </p:nvSpPr>
        <p:spPr>
          <a:xfrm>
            <a:off x="8432589" y="5898872"/>
            <a:ext cx="3327317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THANK YOU · OPEN FOR QUESTIONS AND DISCUSSION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2026-10-09T07:31:50Z</dcterms:created>
  <dcterms:modified xsi:type="dcterms:W3CDTF">2026-10-09T07:31:50Z</dcterms:modified>
</cp:coreProperties>
</file>