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hakra Petch SemiBold"/>
      <p:regular r:id="rId201314"/>
    </p:embeddedFont>
    <p:embeddedFont>
      <p:font typeface="Chakra Petch Bold"/>
      <p:regular r:id="rId201315"/>
    </p:embeddedFont>
    <p:embeddedFont>
      <p:font typeface="Jura"/>
      <p:regular r:id="rId201316"/>
    </p:embeddedFont>
    <p:embeddedFont>
      <p:font typeface="Jura SemiBold"/>
      <p:regular r:id="rId201317"/>
    </p:embeddedFont>
    <p:embeddedFont>
      <p:font typeface="Jura Bold"/>
      <p:regular r:id="rId201318"/>
    </p:embeddedFont>
    <p:embeddedFont>
      <p:font typeface="Plus Jakarta Sans"/>
      <p:regular r:id="rId201319"/>
    </p:embeddedFont>
    <p:embeddedFont>
      <p:font typeface="Plus Jakarta Sans Bold"/>
      <p:regular r:id="rId201320"/>
    </p:embeddedFont>
    <p:embeddedFont>
      <p:font typeface="Red Hat Mono"/>
      <p:regular r:id="rId201321"/>
    </p:embeddedFont>
    <p:embeddedFont>
      <p:font typeface="Red Hat Mono Medium"/>
      <p:regular r:id="rId201322"/>
    </p:embeddedFont>
    <p:embeddedFont>
      <p:font typeface="Red Hat Mono 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073" y="2394446"/>
            <a:ext cx="10566136" cy="4220170"/>
          </a:xfrm>
          <a:prstGeom prst="rect">
            <a:avLst/>
          </a:prstGeom>
          <a:solidFill>
            <a:srgbClr val="062A33"/>
          </a:solidFill>
          <a:ln/>
        </p:spPr>
      </p:sp>
      <p:sp>
        <p:nvSpPr>
          <p:cNvPr id="3" name="Text 1"/>
          <p:cNvSpPr/>
          <p:nvPr/>
        </p:nvSpPr>
        <p:spPr>
          <a:xfrm>
            <a:off x="890664" y="2706231"/>
            <a:ext cx="1046453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B.TECH FINAL YEAR PROJECT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0664" y="2993021"/>
            <a:ext cx="9854953" cy="1549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800" spc="-46" kern="100" dirty="0">
                <a:solidFill>
                  <a:srgbClr val="FFFFFF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TextHack: High-Performance</a:t>
            </a:r>
            <a:endParaRPr lang="en-US" sz="38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3800" spc="-46" kern="100" dirty="0">
                <a:solidFill>
                  <a:srgbClr val="FFFFFF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Pattern Matching &amp; Duplicate</a:t>
            </a:r>
            <a:endParaRPr lang="en-US" sz="38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3800" spc="-46" kern="100" dirty="0">
                <a:solidFill>
                  <a:srgbClr val="FFFFFF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Document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90664" y="4702616"/>
            <a:ext cx="985495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 of AI &amp; Data Science · KL University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0664" y="5155347"/>
            <a:ext cx="492747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0664" y="5453059"/>
            <a:ext cx="472428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2510080040-PAVAN KOWSHIK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2510080047-B.JESHWANTH REDDY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21336" y="5155347"/>
            <a:ext cx="47242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21336" y="5453059"/>
            <a:ext cx="4724282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2510080014-MANOHAR CHOWDARY KROTHAPALLI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2510080009-Akhil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1791" y="5148362"/>
            <a:ext cx="12700" cy="1161455"/>
          </a:xfrm>
          <a:prstGeom prst="rect">
            <a:avLst/>
          </a:prstGeom>
          <a:solidFill>
            <a:srgbClr val="9CC8D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01 · THE SCALE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Legacy plagiarism tools lose time where scale matters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29175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Brute-force search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85" y="2838490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Costs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3C45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O(N × M)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character comparisons.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479800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 latency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9585" y="4026535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Heavy database latency slows duplicate registration and validation.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66784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09585" y="5214580"/>
            <a:ext cx="109725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3C45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O(N + M)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pattern search and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3C45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O(1)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duplicate registration.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5" y="3267075"/>
            <a:ext cx="10972526" cy="127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4455120"/>
            <a:ext cx="10972526" cy="127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D13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651494"/>
            <a:ext cx="5257668" cy="14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FAST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BY DESIGN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189" y="6210379"/>
            <a:ext cx="56386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FFFFFF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ALGORITHM + MEMORY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53036" y="464185"/>
            <a:ext cx="563865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02 · THE RESOLUTION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53036" y="751642"/>
            <a:ext cx="5181470" cy="190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TextHack pairs algorithmic efficiency with in-memory validation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6553036" y="2863255"/>
            <a:ext cx="1295368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3118842"/>
            <a:ext cx="5181470" cy="145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tools often depend on disk-based SQL indexing with high memory overhead.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Resolution: JVM HashSets for fast duplicate checks.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KMP prefix-table optimization reduces redundant pattern comparisons.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03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A modular pipeline separates ingestion, search, and audit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34228"/>
            <a:ext cx="4267093" cy="97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stage has one job. Pattern matching and duplicate validation remain cleanly decoupled.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81371" y="2335752"/>
            <a:ext cx="640073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 Ingestion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181371" y="2794833"/>
            <a:ext cx="640073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Accept source documents; prepare for analysis.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81371" y="3524790"/>
            <a:ext cx="640073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Normalization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81371" y="3983871"/>
            <a:ext cx="640073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Standardize text before comparisons.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1371" y="4713827"/>
            <a:ext cx="640073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Processing Engine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181371" y="5172908"/>
            <a:ext cx="640073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KMP search and duplicate checks.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81371" y="5902865"/>
            <a:ext cx="640073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Trail Registry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181371" y="6361946"/>
            <a:ext cx="640073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Record outcomes for review.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81371" y="3274219"/>
            <a:ext cx="6400739" cy="127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5" name="Shape 13"/>
          <p:cNvSpPr/>
          <p:nvPr/>
        </p:nvSpPr>
        <p:spPr>
          <a:xfrm>
            <a:off x="5181371" y="4463256"/>
            <a:ext cx="6400739" cy="127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81371" y="5652294"/>
            <a:ext cx="6400739" cy="127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34543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04 · CORE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2844729" cy="285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KMP skips comparisons; HashSet makes duplicates immediate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3966766"/>
            <a:ext cx="711182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235688"/>
            <a:ext cx="284472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focused data structures cover the two performance-critical paths.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5706404"/>
            <a:ext cx="2844729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finds patterns. The registry answers whether a document already exists.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3898" y="0"/>
            <a:ext cx="3911502" cy="6858000"/>
          </a:xfrm>
          <a:prstGeom prst="rect">
            <a:avLst/>
          </a:prstGeom>
          <a:solidFill>
            <a:srgbClr val="FFE08A"/>
          </a:solidFill>
          <a:ln/>
        </p:spPr>
      </p:sp>
      <p:sp>
        <p:nvSpPr>
          <p:cNvPr id="8" name="Shape 6"/>
          <p:cNvSpPr/>
          <p:nvPr/>
        </p:nvSpPr>
        <p:spPr>
          <a:xfrm>
            <a:off x="4419489" y="355600"/>
            <a:ext cx="1868242" cy="304800"/>
          </a:xfrm>
          <a:prstGeom prst="roundRect">
            <a:avLst>
              <a:gd name="adj" fmla="val 3750"/>
            </a:avLst>
          </a:prstGeom>
          <a:solidFill>
            <a:srgbClr val="F6D5DB"/>
          </a:solidFill>
          <a:ln/>
        </p:spPr>
      </p:sp>
      <p:sp>
        <p:nvSpPr>
          <p:cNvPr id="9" name="Text 7"/>
          <p:cNvSpPr/>
          <p:nvPr/>
        </p:nvSpPr>
        <p:spPr>
          <a:xfrm>
            <a:off x="4533787" y="422275"/>
            <a:ext cx="22492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PATTERN 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9489" y="817880"/>
            <a:ext cx="3200320" cy="7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173C45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O(N + M)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419489" y="1662410"/>
            <a:ext cx="320032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KMP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19489" y="2209145"/>
            <a:ext cx="320032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LPS prefix tables enable O(N + M) pattern matching by avoiding redundant comparisons.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19489" y="6378615"/>
            <a:ext cx="355591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173C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TEXT · PATTERN · LPS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80193" y="0"/>
            <a:ext cx="3911502" cy="6858000"/>
          </a:xfrm>
          <a:prstGeom prst="rect">
            <a:avLst/>
          </a:prstGeom>
          <a:solidFill>
            <a:srgbClr val="C2B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5784" y="355600"/>
            <a:ext cx="2215896" cy="304800"/>
          </a:xfrm>
          <a:prstGeom prst="roundRect">
            <a:avLst>
              <a:gd name="adj" fmla="val 3750"/>
            </a:avLst>
          </a:prstGeom>
          <a:solidFill>
            <a:srgbClr val="F6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8750081" y="422275"/>
            <a:ext cx="25968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DUPLICATE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35784" y="817880"/>
            <a:ext cx="3200320" cy="7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000000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O(1)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635784" y="1662410"/>
            <a:ext cx="320032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HashSet Registry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635784" y="2209145"/>
            <a:ext cx="320032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Normalized document strings stay in JVM memory for true O(1) lookups.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35784" y="6378615"/>
            <a:ext cx="355591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DOCUMENT · HASH · LOOKUP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34543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05 · IMPLEMENTATION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2844729" cy="285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A lightweight stack keeps the framework fast and practical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3966766"/>
            <a:ext cx="711182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235688"/>
            <a:ext cx="284472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Familiar tools and direct data structures provide immediate feedback.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6075101"/>
            <a:ext cx="345431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unnecessary service layer.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483" y="609600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73483" y="1184021"/>
            <a:ext cx="149003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673483" y="1643102"/>
            <a:ext cx="149003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 data structures and processing logic.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682" y="609600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82682" y="1184021"/>
            <a:ext cx="149012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382682" y="1643102"/>
            <a:ext cx="149012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JavaScript for interaction and live feedback.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981" y="609600"/>
            <a:ext cx="38099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91981" y="1184021"/>
            <a:ext cx="149012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Environment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0091981" y="1643102"/>
            <a:ext cx="149012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HTML5, Tailwind CSS, VS Code, and Git.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766748" y="0"/>
            <a:ext cx="12700" cy="68580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7" name="Shape 12"/>
          <p:cNvSpPr/>
          <p:nvPr/>
        </p:nvSpPr>
        <p:spPr>
          <a:xfrm>
            <a:off x="9476047" y="0"/>
            <a:ext cx="12700" cy="6858000"/>
          </a:xfrm>
          <a:prstGeom prst="rect">
            <a:avLst/>
          </a:prstGeom>
          <a:solidFill>
            <a:srgbClr val="9CC8D0"/>
          </a:solidFill>
          <a:ln/>
        </p:spPr>
      </p:sp>
      <p:sp>
        <p:nvSpPr>
          <p:cNvPr id="18" name="Text 1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D1304E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40385"/>
            <a:ext cx="431789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OBSERVED EXECUTION LATENCY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1109305"/>
            <a:ext cx="3860703" cy="286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2000" b="1" spc="-480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&lt; 0.1</a:t>
            </a:r>
            <a:endParaRPr lang="en-US" sz="12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400" b="1" spc="-480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ms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58786" y="4013081"/>
            <a:ext cx="43178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FFFFFF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PER LOOKUP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86" y="5822394"/>
            <a:ext cx="386070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Validation becomes a live interaction instead of a waiting state.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59266" y="540385"/>
            <a:ext cx="683242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06 · VALIDATION FEEDBACK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9266" y="827842"/>
            <a:ext cx="6222844" cy="14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Sub-millisecond lookups turn validation into a live interaction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5359266" y="2463899"/>
            <a:ext cx="1555612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10" name="Text 8"/>
          <p:cNvSpPr/>
          <p:nvPr/>
        </p:nvSpPr>
        <p:spPr>
          <a:xfrm>
            <a:off x="5359266" y="2732822"/>
            <a:ext cx="622284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audit logs distinguish unique entries from instant duplicate alerts. Results make performance visible to both users and reviewers.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9266" y="3489027"/>
          <a:ext cx="6222844" cy="914400"/>
        </p:xfrm>
        <a:graphic>
          <a:graphicData uri="http://schemas.openxmlformats.org/drawingml/2006/table">
            <a:tbl>
              <a:tblPr/>
              <a:tblGrid>
                <a:gridCol w="1493403"/>
                <a:gridCol w="2364621"/>
                <a:gridCol w="2364820"/>
              </a:tblGrid>
              <a:tr h="398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DOCUMENT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REGISTRY RESULT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AUDIT STATUS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Submission A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New entry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UNIQUE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Submission B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Existing hash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DUPLICATE ALERT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6299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07 · WHERE IT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5689458" cy="14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One framework supports screening, repositories, and analytics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540099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983012"/>
            <a:ext cx="568945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Advantages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9585" y="3529747"/>
            <a:ext cx="568945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speed scaling degradation, minimal memory footprint, high accuracy.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4422477"/>
            <a:ext cx="568945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09585" y="4969212"/>
            <a:ext cx="568945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Academic assignment screening · code repository checks · enterprise text analytics.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0594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08 · NEXT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Future iterations can move from exact matches to semantic similarity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33466"/>
            <a:ext cx="109725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Exact normalized text is a strong baseline. The next challenge is recognizing related meaning while preserving the current system's speed and modularity. The extension changes the matching signal, not the pipeline boundary.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038872"/>
            <a:ext cx="3454314" cy="3209528"/>
          </a:xfrm>
          <a:prstGeom prst="rect">
            <a:avLst/>
          </a:prstGeom>
          <a:solidFill>
            <a:srgbClr val="FFE08A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296047"/>
            <a:ext cx="29971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Current challenge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8179" y="3842782"/>
            <a:ext cx="299712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 allocation during large text-block parsing.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8691" y="3038872"/>
            <a:ext cx="3454314" cy="3209528"/>
          </a:xfrm>
          <a:prstGeom prst="rect">
            <a:avLst/>
          </a:prstGeom>
          <a:solidFill>
            <a:srgbClr val="C2B8F5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3296047"/>
            <a:ext cx="29971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597285" y="3842782"/>
            <a:ext cx="2997125" cy="1352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Integrate TF-IDF and Cosine Similarity for fuzzy matching. Compare vectorized term importance and angle, not only exact strings.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7797" y="3038872"/>
            <a:ext cx="3454314" cy="3209528"/>
          </a:xfrm>
          <a:prstGeom prst="rect">
            <a:avLst/>
          </a:prstGeom>
          <a:solidFill>
            <a:srgbClr val="FFE08A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1" y="3296047"/>
            <a:ext cx="29971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Goal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56391" y="3842782"/>
            <a:ext cx="299712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 related meaning, not only identical normalized text.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FFE08A"/>
          </a:solidFill>
          <a:ln/>
        </p:spPr>
      </p:sp>
      <p:sp>
        <p:nvSpPr>
          <p:cNvPr id="3" name="Text 1"/>
          <p:cNvSpPr/>
          <p:nvPr/>
        </p:nvSpPr>
        <p:spPr>
          <a:xfrm>
            <a:off x="685783" y="667385"/>
            <a:ext cx="74420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173C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FINAL REVIEW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783" y="1148675"/>
            <a:ext cx="6832429" cy="286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173C45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TextHack delivers fast,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173C45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modular duplicate prevention.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85783" y="4178498"/>
            <a:ext cx="1708008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4448183"/>
            <a:ext cx="6832429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high-performance text analytics and duplicate prevention framework, ready for review and extension.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783" y="6057979"/>
            <a:ext cx="74420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THANK YOU · OPEN FOR QUESTIONS AND DISCUSSION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2026-10-09T07:35:17Z</dcterms:created>
  <dcterms:modified xsi:type="dcterms:W3CDTF">2026-10-09T07:35:17Z</dcterms:modified>
</cp:coreProperties>
</file>